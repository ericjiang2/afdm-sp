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MAC</c:v>
                </c:pt>
              </c:strCache>
            </c:strRef>
          </c:tx>
          <c:spPr>
            <a:solidFill>
              <a:srgbClr val="5C6E7F">
                <a:alpha val="95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A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C6E7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58B2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Serial</c:v>
                  </c:pt>
                  <c:pt idx="1">
                    <c:v>Classical</c:v>
                  </c:pt>
                  <c:pt idx="2">
                    <c:v>Learned</c:v>
                  </c:pt>
                  <c:pt idx="3">
                    <c:v>Re-OMP</c:v>
                  </c:pt>
                  <c:pt idx="4">
                    <c:v>LMMSE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0.75</c:v>
                </c:pt>
                <c:pt idx="1">
                  <c:v>1</c:v>
                </c:pt>
                <c:pt idx="2">
                  <c:v>1.08</c:v>
                </c:pt>
                <c:pt idx="3">
                  <c:v>2.61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A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A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C6E7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937760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0"/>
            <a:ext cx="16459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280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AFDM Transceiver Design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Underwater Acoustic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2331720"/>
            <a:ext cx="4434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 Systems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0632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F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Low-Complexity Joint OMP–LS/MP Receiver,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BF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with a Deep-Unfolded Support-Refinement Head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069080"/>
            <a:ext cx="457200" cy="457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2062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Defense
</a:t>
            </a:r>
            <a:pPr indent="0" marL="0">
              <a:buNone/>
            </a:pPr>
            <a:r>
              <a:rPr lang="en-US" sz="1100" dirty="0">
                <a:solidFill>
                  <a:srgbClr val="9FB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 of Engineering — UESTC × University of Glasgow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93776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Presenter: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Yikun Guo
</a:t>
            </a:r>
            <a:pPr indent="0" marL="0">
              <a:buNone/>
            </a:pPr>
            <a:r>
              <a:rPr lang="en-US" sz="1200" dirty="0">
                <a:solidFill>
                  <a:srgbClr val="9FB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2840210g
</a:t>
            </a:r>
            <a:pPr indent="0" marL="0">
              <a:buNone/>
            </a:pPr>
            <a:r>
              <a:rPr lang="en-US" sz="1200" dirty="0">
                <a:solidFill>
                  <a:srgbClr val="9FB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–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349240" y="457200"/>
            <a:ext cx="6446520" cy="1463040"/>
          </a:xfrm>
          <a:prstGeom prst="rect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920240"/>
            <a:ext cx="6446520" cy="4160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49240" y="1874520"/>
            <a:ext cx="6446520" cy="91440"/>
          </a:xfrm>
          <a:prstGeom prst="rect">
            <a:avLst/>
          </a:prstGeom>
          <a:solidFill>
            <a:srgbClr val="1C7293">
              <a:alpha val="70000"/>
            </a:srgbClr>
          </a:solidFill>
          <a:ln w="12700">
            <a:solidFill>
              <a:srgbClr val="1C7293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49240" y="1965960"/>
            <a:ext cx="6446520" cy="45720"/>
          </a:xfrm>
          <a:prstGeom prst="rect">
            <a:avLst/>
          </a:prstGeom>
          <a:solidFill>
            <a:srgbClr val="1C7293">
              <a:alpha val="35000"/>
            </a:srgbClr>
          </a:solidFill>
          <a:ln w="12700">
            <a:solidFill>
              <a:srgbClr val="1C7293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5943600"/>
            <a:ext cx="6446520" cy="502920"/>
          </a:xfrm>
          <a:prstGeom prst="rect">
            <a:avLst/>
          </a:prstGeom>
          <a:solidFill>
            <a:srgbClr val="21456A"/>
          </a:solidFill>
          <a:ln w="12700">
            <a:solidFill>
              <a:srgbClr val="2145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97880" y="1664208"/>
            <a:ext cx="1371600" cy="292608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417320"/>
            <a:ext cx="41148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480560"/>
            <a:ext cx="1463040" cy="502920"/>
          </a:xfrm>
          <a:prstGeom prst="ellipse">
            <a:avLst/>
          </a:prstGeom>
          <a:solidFill>
            <a:srgbClr val="DBE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0" y="1938528"/>
            <a:ext cx="3703320" cy="2176272"/>
          </a:xfrm>
          <a:prstGeom prst="line">
            <a:avLst/>
          </a:prstGeom>
          <a:noFill/>
          <a:ln w="15240">
            <a:solidFill>
              <a:srgbClr val="DBE7EE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938528"/>
            <a:ext cx="3703320" cy="2542032"/>
          </a:xfrm>
          <a:prstGeom prst="line">
            <a:avLst/>
          </a:prstGeom>
          <a:noFill/>
          <a:ln w="15240">
            <a:solidFill>
              <a:srgbClr val="DBE7EE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938528"/>
            <a:ext cx="3703320" cy="2907792"/>
          </a:xfrm>
          <a:prstGeom prst="line">
            <a:avLst/>
          </a:prstGeom>
          <a:noFill/>
          <a:ln w="15240">
            <a:solidFill>
              <a:srgbClr val="DBE7EE">
                <a:alpha val="6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938528"/>
            <a:ext cx="3703320" cy="3273552"/>
          </a:xfrm>
          <a:prstGeom prst="line">
            <a:avLst/>
          </a:prstGeom>
          <a:noFill/>
          <a:ln w="15240">
            <a:solidFill>
              <a:srgbClr val="DBE7EE">
                <a:alpha val="6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78040" y="4480560"/>
            <a:ext cx="201168" cy="201168"/>
          </a:xfrm>
          <a:prstGeom prst="ellipse">
            <a:avLst/>
          </a:prstGeom>
          <a:solidFill>
            <a:srgbClr val="C58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92440" y="3657600"/>
            <a:ext cx="164592" cy="164592"/>
          </a:xfrm>
          <a:prstGeom prst="ellipse">
            <a:avLst/>
          </a:prstGeom>
          <a:solidFill>
            <a:srgbClr val="C58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32520" y="4663440"/>
            <a:ext cx="146304" cy="146304"/>
          </a:xfrm>
          <a:prstGeom prst="ellipse">
            <a:avLst/>
          </a:prstGeom>
          <a:solidFill>
            <a:srgbClr val="C58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35240" y="5486400"/>
            <a:ext cx="182880" cy="18288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6510528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delay spread  •  fractional Doppler  •  sparse chirp-domain channel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underwater channel to a learned-head AFDM receiver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8016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9164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Background &amp; Motivation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91640" y="1920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UWA breaks OFDM; AFDM as a chirp-domain remedy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28016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128016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823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406640" y="14630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AFDM-SP System Model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406640" y="192024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DAFT, sparse effective channel, superimposed pilots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97180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136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691640" y="315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Iterative-Receiver Necessity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691640" y="36118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estimation floor and the three design options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97180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97180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3136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406640" y="315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 — Classical Joint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06640" y="36118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OMP-once + iterative LS / sparse MP-BP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6634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466344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8280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691640" y="4846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 — Learned Head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91640" y="5303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Deep-unfolded support refinement (1 041 params)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172200" y="4663440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2200" y="466344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48280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406640" y="4846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Mechanism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406640" y="53035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BER, oracle headroom, complexity, conclusions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Underwater Acoustic Channels Are Hard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pathologies that no conventional waveform handles cleanly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234440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371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delay spread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178308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/ column / bottom multipath at 4–12 kHz acoustic bands ⇒ ~10 ms delay spread, hundreds of resolvable bins.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350008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Stojanovic '09 · Berger '10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62072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62072"/>
            <a:ext cx="16459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9923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Fractional Doppler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3410712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speed c ≈ 1500 m/s + platform motion ⇒ v/c ~ 10⁻³, three to four orders larger than RF; ICI and mid-bin Doppler.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397764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Preisig '07 · Huang '10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489704"/>
            <a:ext cx="58521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4489704"/>
            <a:ext cx="164592" cy="14630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626864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OFDM fails on both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7240" y="5038344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enough CP eats spectral efficiency; even a fractional sub-carrier of Doppler corrupts orthogonality.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7240" y="5605272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waterline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0" y="1234440"/>
            <a:ext cx="51206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3990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Doubly-dispersive UWA channel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49440" y="1874520"/>
            <a:ext cx="4389120" cy="891540"/>
          </a:xfrm>
          <a:prstGeom prst="rect">
            <a:avLst/>
          </a:prstGeom>
          <a:solidFill>
            <a:srgbClr val="DCEAF4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49440" y="2766060"/>
            <a:ext cx="4389120" cy="23180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5084064"/>
            <a:ext cx="4389120" cy="356616"/>
          </a:xfrm>
          <a:prstGeom prst="rect">
            <a:avLst/>
          </a:prstGeom>
          <a:solidFill>
            <a:srgbClr val="21456A"/>
          </a:solidFill>
          <a:ln w="12700">
            <a:solidFill>
              <a:srgbClr val="2145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78040" y="2516429"/>
            <a:ext cx="548640" cy="164592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241280" y="4370832"/>
            <a:ext cx="777240" cy="256032"/>
          </a:xfrm>
          <a:prstGeom prst="oval">
            <a:avLst/>
          </a:prstGeom>
          <a:solidFill>
            <a:srgbClr val="DBE7E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52360" y="2837383"/>
            <a:ext cx="3246120" cy="1666951"/>
          </a:xfrm>
          <a:prstGeom prst="line">
            <a:avLst/>
          </a:prstGeom>
          <a:noFill/>
          <a:ln w="15240">
            <a:solidFill>
              <a:srgbClr val="DBE7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52360" y="2837383"/>
            <a:ext cx="3246120" cy="1941271"/>
          </a:xfrm>
          <a:prstGeom prst="line">
            <a:avLst/>
          </a:prstGeom>
          <a:noFill/>
          <a:ln w="15240">
            <a:solidFill>
              <a:srgbClr val="DBE7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52360" y="2837383"/>
            <a:ext cx="3246120" cy="2169871"/>
          </a:xfrm>
          <a:prstGeom prst="line">
            <a:avLst/>
          </a:prstGeom>
          <a:noFill/>
          <a:ln w="15240">
            <a:solidFill>
              <a:srgbClr val="DBE7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52360" y="2837383"/>
            <a:ext cx="3246120" cy="2398471"/>
          </a:xfrm>
          <a:prstGeom prst="line">
            <a:avLst/>
          </a:prstGeom>
          <a:noFill/>
          <a:ln w="15240">
            <a:solidFill>
              <a:srgbClr val="DBE7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34792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multipath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(delay spread)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46920" y="3372307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Doppler</a:t>
            </a:r>
            <a:endParaRPr lang="en-US" sz="1000" dirty="0"/>
          </a:p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(motion)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5806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reception that handles BOTH dispersions at low complexity.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AFDM — One Sparse Chirp-Domain Effective Channel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 Fourier Transform aligned with the (delay, Doppler) geometry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7607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64592" cy="51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325880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OFDM to a chirp basis (DAFT)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73736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tunable chirp coefficients  c₁, c₂  align the basis with the channel's (l, k) lattice — every physical path collapses into a compact, sparse pattern in the chirp domain.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69748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43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IDAFT  (transmit waveform)</a:t>
            </a:r>
            <a:endParaRPr lang="en-US" sz="1000" dirty="0"/>
          </a:p>
        </p:txBody>
      </p:sp>
      <p:pic>
        <p:nvPicPr>
          <p:cNvPr id="15" name="Image 0" descr="/sessions/optimistic-sleepy-turing/mnt/outputs/figs/eqs/idaf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3035808"/>
            <a:ext cx="49834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77240" y="38404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886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Chirp-domain received vector</a:t>
            </a:r>
            <a:endParaRPr lang="en-US" sz="1000" dirty="0"/>
          </a:p>
        </p:txBody>
      </p:sp>
      <p:pic>
        <p:nvPicPr>
          <p:cNvPr id="18" name="Image 1" descr="/sessions/optimistic-sleepy-turing/mnt/outputs/figs/eqs/chirp_mod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" y="4160520"/>
            <a:ext cx="498348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7240" y="48463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case:  </a:t>
            </a:r>
            <a:pPr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= c₂ = 0  ⇒  IDAFT = IDFT,  AFDM ≡ OFDM.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77240" y="5212080"/>
            <a:ext cx="5349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Each (l_p, k_p) → one localized atom in H_eff.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Sparse recovery (OMP) becomes the natural channel-estimation primitive.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Recovers OTFS-style time–frequency diversity on a 1-D transform.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46520" y="1188720"/>
            <a:ext cx="5285232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583680" y="12801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|H_eff|  for a 3-path AFDM channel</a:t>
            </a:r>
            <a:endParaRPr lang="en-US" sz="1400" dirty="0"/>
          </a:p>
        </p:txBody>
      </p:sp>
      <p:pic>
        <p:nvPicPr>
          <p:cNvPr id="23" name="Image 2" descr="/sessions/optimistic-sleepy-turing/mnt/outputs/figs/h_eff_sparsity_3path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583680" y="1691640"/>
            <a:ext cx="5029200" cy="416052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583680" y="5897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physical path lights up one DAFT-domain super-diagonal; the cluster width  2κ_ν + 1  is the Dirichlet-leakage signature of fractional Doppler.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Superimposed Pilots — Saving Spectrum, Buying an Error Floor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one-shot OMP+MP saturates at BER ≈ 5×10⁻²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60350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64592" cy="51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chirp sub-carrier carries data + pilot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169164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3736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frame</a:t>
            </a:r>
            <a:endParaRPr lang="en-US" sz="1000" dirty="0"/>
          </a:p>
        </p:txBody>
      </p:sp>
      <p:pic>
        <p:nvPicPr>
          <p:cNvPr id="14" name="Image 0" descr="/sessions/optimistic-sleepy-turing/mnt/outputs/figs/eqs/sp_fra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2011680"/>
            <a:ext cx="5212080" cy="5029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77240" y="2606040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Doubles data capacity vs. embedded-pilot.  x_p: Zadoff–Chu (r = 7).  ρ = 0.5.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297180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3017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projection at the receiver</a:t>
            </a:r>
            <a:endParaRPr lang="en-US" sz="1000" dirty="0"/>
          </a:p>
        </p:txBody>
      </p:sp>
      <p:pic>
        <p:nvPicPr>
          <p:cNvPr id="18" name="Image 1" descr="/sessions/optimistic-sleepy-turing/mnt/outputs/figs/eqs/pilot_proj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60120" y="3337560"/>
            <a:ext cx="5212080" cy="5029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77240" y="41148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 interference  (1−ρ)¹ᐟ² · xpᴴ H_eff x_d  </a:t>
            </a:r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with channel norm and  </a:t>
            </a:r>
            <a:pPr indent="0" marL="0">
              <a:buNone/>
            </a:pPr>
            <a:r>
              <a:rPr lang="en-US" sz="125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shrink with SNR.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77240" y="480060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 Mid-to-high-SNR error floor:  one-shot OMP + MP-BP saturates at BER ≈ 5×10⁻², NMSE frozen near −11.3 dB from SNR ≥ 15 dB.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675120" y="1188720"/>
            <a:ext cx="5074920" cy="5120640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6812280" y="128016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ρ trades capacity ↔ estimation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858000" y="1737360"/>
            <a:ext cx="4709160" cy="182880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858000" y="18288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5×10⁻²</a:t>
            </a:r>
            <a:endParaRPr lang="en-US" sz="5000" dirty="0"/>
          </a:p>
        </p:txBody>
      </p:sp>
      <p:sp>
        <p:nvSpPr>
          <p:cNvPr id="25" name="Text 21"/>
          <p:cNvSpPr/>
          <p:nvPr/>
        </p:nvSpPr>
        <p:spPr>
          <a:xfrm>
            <a:off x="6949440" y="274320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estimation-limited BER floor of one-shot OMP+MP from SNR ≥ 15 dB  (ρ = 0.5, P_path = 8)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858000" y="370332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858000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903720" y="4160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doubled vs EP</a:t>
            </a:r>
            <a:endParaRPr lang="en-US" sz="1250" dirty="0"/>
          </a:p>
        </p:txBody>
      </p:sp>
      <p:sp>
        <p:nvSpPr>
          <p:cNvPr id="29" name="Shape 25"/>
          <p:cNvSpPr/>
          <p:nvPr/>
        </p:nvSpPr>
        <p:spPr>
          <a:xfrm>
            <a:off x="8485632" y="370332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85632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fraction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8531352" y="4160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ρ = 0.5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10113264" y="3703320"/>
            <a:ext cx="1554480" cy="1508760"/>
          </a:xfrm>
          <a:prstGeom prst="roundRect">
            <a:avLst>
              <a:gd name="adj" fmla="val 4848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113264" y="37947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10158984" y="41605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with ‖H_eff‖,  σ²-indep.</a:t>
            </a:r>
            <a:endParaRPr lang="en-US" sz="1250" dirty="0"/>
          </a:p>
        </p:txBody>
      </p:sp>
      <p:sp>
        <p:nvSpPr>
          <p:cNvPr id="35" name="Text 31"/>
          <p:cNvSpPr/>
          <p:nvPr/>
        </p:nvSpPr>
        <p:spPr>
          <a:xfrm>
            <a:off x="6812280" y="53492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The interference floor — not the noise — is the engineering enemy.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Iterative Receiver Is Unavoidable — Which Iteration?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options; only one keeps the sparse-recovery complexity class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SP-induced data interference does not decay with σ²  →  the receiver MUST iterate channel estimation and detection.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E8F1F8"/>
          </a:solidFill>
          <a:ln w="12700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783080"/>
            <a:ext cx="3703320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81528" y="2039112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81528" y="20391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  Re-OMP each iter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2926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× OMP per frame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2.6× cost,  same  𝒪(P·N²) class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Re-runs the same support-selection problem 5×.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Empirically, support Jaccard already &gt; 0.94 from t = 2 → atoms barely change.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Constant-factor waste, no asymptotic relief.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79976" y="178308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E8F1F8"/>
          </a:solidFill>
          <a:ln w="12700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79976" y="1783080"/>
            <a:ext cx="3703320" cy="14630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04304" y="2039112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04304" y="20391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562856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   Dense LMMSE 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62856" y="2926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(ΦᴴΦ)⁻¹ each iter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62856" y="3246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145×  baseline at  N = 1024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62856" y="36118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Cubic per-frame cost  𝒪(N³).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Throws away the chirp-domain sparsity prior we just paid for with AFDM.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orders of magnitude too expensive for embedded UWA modems.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302752" y="1783080"/>
            <a:ext cx="3703320" cy="4251960"/>
          </a:xfrm>
          <a:prstGeom prst="roundRect">
            <a:avLst>
              <a:gd name="adj" fmla="val 2469"/>
            </a:avLst>
          </a:prstGeom>
          <a:solidFill>
            <a:srgbClr val="EBF3FA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302752" y="1783080"/>
            <a:ext cx="3703320" cy="14630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927080" y="2039112"/>
            <a:ext cx="950976" cy="274320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27080" y="2039112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8485632" y="2423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C   OMP-once + cheap iters  ✓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485632" y="2926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× OMP, then iterate only LS / MP-BP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8485632" y="32461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 𝒪(P·N²)  class as a single OMP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485632" y="3611880"/>
            <a:ext cx="3337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OMP only once → lock the support.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only:  (i) damped data-aided LS gain refit;  (ii) sparse MP-BP detection.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Justified empirically by the support-recall probe on the next slide.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12648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Option C  —  contingent on showing that one OMP pass already finds (almost) all the support.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OMP-Once Is Enough — A Direct Support-Recall Probe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OMP pass already finds ~95% of the Dirichlet-expanded oracle support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67665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80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OMP-once recall vs. Dirichlet-expanded virtual-tap oracle</a:t>
            </a:r>
            <a:endParaRPr lang="en-US" sz="1300" dirty="0"/>
          </a:p>
        </p:txBody>
      </p:sp>
      <p:pic>
        <p:nvPicPr>
          <p:cNvPr id="11" name="Image 0" descr="/sessions/optimistic-sleepy-turing/mnt/outputs/figs/loop13_support_recal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91640"/>
            <a:ext cx="6492240" cy="44348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98080" y="1188720"/>
            <a:ext cx="4251960" cy="512064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98080" y="1188720"/>
            <a:ext cx="164592" cy="512064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18120" y="135331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reading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818120" y="1783080"/>
            <a:ext cx="3611880" cy="1280160"/>
          </a:xfrm>
          <a:prstGeom prst="roundRect">
            <a:avLst>
              <a:gd name="adj" fmla="val 5714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178308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95 %</a:t>
            </a:r>
            <a:endParaRPr lang="en-US" sz="3800" dirty="0"/>
          </a:p>
        </p:txBody>
      </p:sp>
      <p:sp>
        <p:nvSpPr>
          <p:cNvPr id="17" name="Text 14"/>
          <p:cNvSpPr/>
          <p:nvPr/>
        </p:nvSpPr>
        <p:spPr>
          <a:xfrm>
            <a:off x="7863840" y="26060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recall — flat across SNR  ∈  {10, 15, 20, 25} dB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818120" y="3200400"/>
            <a:ext cx="3794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 SNR  ⇒  the residual ~5% is structurally Dirichlet-leaked, not noise-driven.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Re-running OMP cannot find what isn't in the dictionary's main-lobe pattern.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MP-BP graph degree bounded by  P · (2κ_leak + 1) = 40  (effective ≈ 28).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Iterating LS / MP-BP on a locked support is sufficient — and cheap.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 — Classical Joint OMP-once + Iterative LS / MP-BP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support; iterate only the cheap downstream blocks  (Algorithm 1)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80467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234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 — classical joint receiver</a:t>
            </a:r>
            <a:endParaRPr lang="en-US" sz="1050" dirty="0"/>
          </a:p>
        </p:txBody>
      </p:sp>
      <p:pic>
        <p:nvPicPr>
          <p:cNvPr id="11" name="Image 0" descr="/sessions/optimistic-sleepy-turing/mnt/outputs/figs/figure_a_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527048"/>
            <a:ext cx="7772400" cy="3154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595360" y="1143000"/>
            <a:ext cx="3246120" cy="365760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595360" y="1143000"/>
            <a:ext cx="146304" cy="3657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0" y="128016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at a glance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869680" y="1737360"/>
            <a:ext cx="2880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0: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 on Φ → support Ŝ⁽⁰⁾, gains ĥ⁽⁰⁾;  LMMSE init x̂_d⁽⁰⁾.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 t = 1 … 5  (T_out = 5)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① Data-cancel  →  see equation below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② Damped DA-LS gain refit on locked Ŝ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③ Sparse MP-BP (T_mp = 20, η = 0.5)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④ Adaptive σ², gain prune (keep top-P)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 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QPSK demap → x̂_d.</a:t>
            </a:r>
            <a:endParaRPr lang="en-US" sz="1050" dirty="0"/>
          </a:p>
        </p:txBody>
      </p:sp>
      <p:pic>
        <p:nvPicPr>
          <p:cNvPr id="16" name="Image 1" descr="/sessions/optimistic-sleepy-turing/mnt/outputs/figs/eqs/data_cancel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23960" y="3931920"/>
            <a:ext cx="2880360" cy="502920"/>
          </a:xfrm>
          <a:prstGeom prst="rect">
            <a:avLst/>
          </a:prstGeom>
        </p:spPr>
      </p:pic>
      <p:pic>
        <p:nvPicPr>
          <p:cNvPr id="17" name="Image 2" descr="/sessions/optimistic-sleepy-turing/mnt/outputs/figs/eqs/dal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23960" y="4389120"/>
            <a:ext cx="2880360" cy="4114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4983480"/>
            <a:ext cx="3621024" cy="1325880"/>
          </a:xfrm>
          <a:prstGeom prst="roundRect">
            <a:avLst>
              <a:gd name="adj" fmla="val 5517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" y="50566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complexity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94360" y="533095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𝒪( P · N² )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94360" y="58978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 as one OMP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279392" y="4983480"/>
            <a:ext cx="3621024" cy="1325880"/>
          </a:xfrm>
          <a:prstGeom prst="roundRect">
            <a:avLst>
              <a:gd name="adj" fmla="val 5517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416552" y="50566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 gain over one-shot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416552" y="533095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– 3  orders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4416552" y="58978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SNR = 25 dB on a paired-frame test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101584" y="4983480"/>
            <a:ext cx="3621024" cy="1325880"/>
          </a:xfrm>
          <a:prstGeom prst="roundRect">
            <a:avLst>
              <a:gd name="adj" fmla="val 5517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238744" y="5056632"/>
            <a:ext cx="33467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count at N = 1024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8238744" y="5330952"/>
            <a:ext cx="3346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18.6 M</a:t>
            </a:r>
            <a:endParaRPr lang="en-US" sz="2200" dirty="0"/>
          </a:p>
        </p:txBody>
      </p:sp>
      <p:sp>
        <p:nvSpPr>
          <p:cNvPr id="29" name="Text 24"/>
          <p:cNvSpPr/>
          <p:nvPr/>
        </p:nvSpPr>
        <p:spPr>
          <a:xfrm>
            <a:off x="8238744" y="5897880"/>
            <a:ext cx="3346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48.6 M (re-OMP) and 2.7 G (LMMSE)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Add Learning? — The Structural 5% That OMP Misses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Fractional-Doppler leakage produces deterministic side-lobes, not noise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6692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64592" cy="51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residual is geometric, not random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16916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path's fractional Doppler residual κ = k_p − ⌊k_p⌉ spreads energy onto integer-bin neighbours via the Dirichlet (aliased-sinc) kernel.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251460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560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 expansion (per path)</a:t>
            </a:r>
            <a:endParaRPr lang="en-US" sz="1000" dirty="0"/>
          </a:p>
        </p:txBody>
      </p:sp>
      <p:pic>
        <p:nvPicPr>
          <p:cNvPr id="15" name="Image 0" descr="/sessions/optimistic-sleepy-turing/mnt/outputs/figs/eqs/dirichl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" y="2834640"/>
            <a:ext cx="5029200" cy="5486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77240" y="361188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residual (κ = 0.5):  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adjacent integer bins each carry ≈ 41% of per-path energy.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pair carries ≈ 4.4% — small but </a:t>
            </a:r>
            <a:pPr indent="0" marL="0">
              <a:buNone/>
            </a:pPr>
            <a:r>
              <a:rPr lang="en-US" sz="1200" b="1" i="1" dirty="0">
                <a:solidFill>
                  <a:srgbClr val="C58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predictable</a:t>
            </a:r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77240" y="45720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neural network?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4937760"/>
            <a:ext cx="5212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the missing leakage atom = a non-linear ranking on an integer (Δl, Δk) lattice, conditioned on neighbour gains.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Closed-form thresholds on |Φᴴr| can't separate weak side-lobes from noise — learning fuses self + relational features.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unfolding keeps the task small (few features, few params) and the receiver explainable.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355080" y="1188720"/>
            <a:ext cx="539496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46520" y="1280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Dirichlet kernel  |D(δ)|</a:t>
            </a:r>
            <a:endParaRPr lang="en-US" sz="1300" dirty="0"/>
          </a:p>
        </p:txBody>
      </p:sp>
      <p:pic>
        <p:nvPicPr>
          <p:cNvPr id="21" name="Image 1" descr="/sessions/optimistic-sleepy-turing/mnt/outputs/figs/fig_dirichlet_kernel-1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92240" y="1691640"/>
            <a:ext cx="5166360" cy="36576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446520" y="54864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Blue: integer-aligned (κ = 0).   Red: worst case (|κ| = 0.5).   Dashed: κ_leak = 2 truncation.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 — Learned Support-Refinement Head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Plugged in once at  t = 0,  between OMP-once and the iterative loop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  <p:pic>
        <p:nvPicPr>
          <p:cNvPr id="9" name="Image 0" descr="/sessions/optimistic-sleepy-turing/mnt/outputs/figs/figure_b_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3768" y="1097280"/>
            <a:ext cx="10424160" cy="5212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80848" y="6373368"/>
            <a:ext cx="2734056" cy="292608"/>
          </a:xfrm>
          <a:prstGeom prst="roundRect">
            <a:avLst>
              <a:gd name="adj" fmla="val 15625"/>
            </a:avLst>
          </a:prstGeom>
          <a:solidFill>
            <a:srgbClr val="E8F1F8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288" y="6373368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OMP-once,  before t = 1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79496" y="6373368"/>
            <a:ext cx="2734056" cy="292608"/>
          </a:xfrm>
          <a:prstGeom prst="roundRect">
            <a:avLst>
              <a:gd name="adj" fmla="val 15625"/>
            </a:avLst>
          </a:prstGeom>
          <a:solidFill>
            <a:srgbClr val="E8F1F8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70936" y="6373368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</a:t>
            </a:r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4 ranker over M = 96 atoms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78144" y="6373368"/>
            <a:ext cx="2734056" cy="292608"/>
          </a:xfrm>
          <a:prstGeom prst="roundRect">
            <a:avLst>
              <a:gd name="adj" fmla="val 15625"/>
            </a:avLst>
          </a:prstGeom>
          <a:solidFill>
            <a:srgbClr val="E8F1F8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69584" y="6373368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</a:t>
            </a:r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1 041 trainable params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9076792" y="6373368"/>
            <a:ext cx="2734056" cy="292608"/>
          </a:xfrm>
          <a:prstGeom prst="roundRect">
            <a:avLst>
              <a:gd name="adj" fmla="val 15625"/>
            </a:avLst>
          </a:prstGeom>
          <a:solidFill>
            <a:srgbClr val="E8F1F8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68232" y="6373368"/>
            <a:ext cx="2551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</a:t>
            </a:r>
            <a:pPr algn="ctr" indent="0" marL="0">
              <a:buNone/>
            </a:pPr>
            <a:r>
              <a:rPr lang="en-US" sz="10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pPr algn="ctr" indent="0" marL="0">
              <a:buNone/>
            </a:pPr>
            <a:r>
              <a:rPr lang="en-US" sz="10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 M MAC  (≈ 8 % overhead)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Head — Self &amp; Pair Features → Shared Encoder → Ranker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Order-invariant pooling so the support set has no canonical ordering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1143000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pic>
        <p:nvPicPr>
          <p:cNvPr id="10" name="Image 0" descr="/sessions/optimistic-sleepy-turing/mnt/outputs/figs/figure_c_n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252728"/>
            <a:ext cx="11155680" cy="2926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443484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4434840"/>
            <a:ext cx="137160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4553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7-D self feature  u_i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31520" y="4937760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|Φ_iᴴ r|  matched-filter strength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to weakest active atom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(l_i, k_i) — physical lattice prior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residual-normalised projection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among M = 96 candidates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Dirichlet-neighbour binary flag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97680" y="443484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97680" y="4434840"/>
            <a:ext cx="137160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572000" y="4553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6-D pair feature  v_{i,s}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4937760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offsets  (l_i − l_s, k_i − k_s)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|ĥ_s|  +  gain prominence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dictionary coherence  |Φ_iᴴ Φ_s|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geometric distance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the (Δl, Δk) = (0, ±1) Dirichlet signature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8138160" y="4434840"/>
            <a:ext cx="3593592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138160" y="4434840"/>
            <a:ext cx="137160" cy="1874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412480" y="4553712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412480" y="4937760"/>
            <a:ext cx="322783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encoder  ℝ⁶ → ℝ¹⁶ → ℝ¹⁶  (384 params)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channel-wise  max + mean  over Ŝ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 ℝ³⁹ → ℝ¹⁶ → ℝ  (657 params, SiLU)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Inference: top-K = 4 ranking, bias patch +10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BCE + pairwise hinge (λ = 0.5)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BER Waterfall and Channel-Estimation NMSE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Paired-frame protocol,  N = 1024, ρ = 0.5, P_path = 8, f_s = 4B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731520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801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BER + NMSE  (4B operating point)</a:t>
            </a:r>
            <a:endParaRPr lang="en-US" sz="1250" dirty="0"/>
          </a:p>
        </p:txBody>
      </p:sp>
      <p:pic>
        <p:nvPicPr>
          <p:cNvPr id="11" name="Image 0" descr="/sessions/optimistic-sleepy-turing/mnt/outputs/figs/loop13_combined_4B_ber_ms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27632"/>
            <a:ext cx="713232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55280" y="1188720"/>
            <a:ext cx="3794760" cy="512064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955280" y="1188720"/>
            <a:ext cx="164592" cy="512064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135331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Pooled paired BER  (3 seed blocks)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29600" y="1783080"/>
            <a:ext cx="6400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0" y="178308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869680" y="1783080"/>
            <a:ext cx="9144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869680" y="1783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9784080" y="1783080"/>
            <a:ext cx="91440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84080" y="17830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698480" y="1783080"/>
            <a:ext cx="868680" cy="31089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0" y="178308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paired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8229600" y="2093976"/>
            <a:ext cx="64008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29600" y="209397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dB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8869680" y="2093976"/>
            <a:ext cx="91440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69680" y="2093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 × 10⁻⁴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9784080" y="2093976"/>
            <a:ext cx="91440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9784080" y="20939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× 10⁻⁴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10698480" y="2093976"/>
            <a:ext cx="86868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698480" y="2093976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−37.7 %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8229600" y="240487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29600" y="24048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dB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8869680" y="240487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69680" y="2404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× 10⁻⁴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9784080" y="240487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784080" y="2404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× 10⁻⁵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10698480" y="240487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698480" y="24048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−40.2 %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8229600" y="2715768"/>
            <a:ext cx="64008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29600" y="27157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dB</a:t>
            </a:r>
            <a:endParaRPr lang="en-US" sz="1050" dirty="0"/>
          </a:p>
        </p:txBody>
      </p:sp>
      <p:sp>
        <p:nvSpPr>
          <p:cNvPr id="41" name="Shape 38"/>
          <p:cNvSpPr/>
          <p:nvPr/>
        </p:nvSpPr>
        <p:spPr>
          <a:xfrm>
            <a:off x="8869680" y="2715768"/>
            <a:ext cx="91440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869680" y="2715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 × 10⁻⁵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9784080" y="2715768"/>
            <a:ext cx="91440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784080" y="271576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× 10⁻⁵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10698480" y="2715768"/>
            <a:ext cx="868680" cy="310896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698480" y="27157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−37.6 %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8229600" y="32004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229600" y="32186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 dB</a:t>
            </a:r>
            <a:endParaRPr lang="en-US" sz="3600" dirty="0"/>
          </a:p>
        </p:txBody>
      </p:sp>
      <p:sp>
        <p:nvSpPr>
          <p:cNvPr id="49" name="Text 46"/>
          <p:cNvSpPr/>
          <p:nvPr/>
        </p:nvSpPr>
        <p:spPr>
          <a:xfrm>
            <a:off x="8275320" y="37947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BER separation, learned-head over classical, at SNR ∈ {20, 25, 30} dB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8229600" y="4480560"/>
            <a:ext cx="3337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OMP+MP saturates at ≈ 5×10⁻², NMSE frozen at −11.3 dB.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joint gains 2–3 orders of magnitude over serial.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head sits strictly below classical at every high-SNR cell.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Δ values pass paired McNemar at  p &lt; 10⁻⁶.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Mechanism — How Much of the Achievable Gap Does the Head Close?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Top-P physical-support oracle = a valid ceiling for any same-dictionary refiner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694944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2801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Oracle-headroom decomposition</a:t>
            </a:r>
            <a:endParaRPr lang="en-US" sz="1250" dirty="0"/>
          </a:p>
        </p:txBody>
      </p:sp>
      <p:pic>
        <p:nvPicPr>
          <p:cNvPr id="11" name="Image 0" descr="/sessions/optimistic-sleepy-turing/mnt/outputs/figs/loop13_oracle_headr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45920"/>
            <a:ext cx="6675120" cy="45262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589520" y="1188720"/>
            <a:ext cx="4160520" cy="512064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89520" y="1188720"/>
            <a:ext cx="164592" cy="512064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63840" y="135331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closed = (baseline − learned) / (baseline − oracle)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818120" y="196596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18120" y="2057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61 %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781812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098280" y="196596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098280" y="2057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909828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dB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378440" y="1965960"/>
            <a:ext cx="1188720" cy="1371600"/>
          </a:xfrm>
          <a:prstGeom prst="roundRect">
            <a:avLst>
              <a:gd name="adj" fmla="val 6154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78440" y="20574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98 %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10378440" y="28346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dB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863840" y="3566160"/>
            <a:ext cx="3703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oracle reaches censored-zero BER at SNR ≥ 20 dB on 5×10⁵ paired bits per cell — a tight ceiling.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head closes 61 / 81 / 98 % of the gap at SNR = 15 / 20 / 25 dB.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The BER gain is attributable to support refinement, NOT to a generic noise-averaging effect.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Outer-iteration probe confirms saturation by  T_out = 4 – 5  at SNR = 20 dB.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Complexity Stays in the Sparse-Recovery Class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+ 1.5 M MAC over the classical core — about 8 % overhead at  N = 1024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795528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12801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Per-frame complexity at  N = 1024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1783080"/>
            <a:ext cx="3017520" cy="457200"/>
          </a:xfrm>
          <a:prstGeom prst="rect">
            <a:avLst/>
          </a:prstGeom>
          <a:solidFill>
            <a:srgbClr val="065A82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17830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11880" y="1783080"/>
            <a:ext cx="1691640" cy="457200"/>
          </a:xfrm>
          <a:prstGeom prst="rect">
            <a:avLst/>
          </a:prstGeom>
          <a:solidFill>
            <a:srgbClr val="065A82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17830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Asymptotic class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303520" y="1783080"/>
            <a:ext cx="1463040" cy="457200"/>
          </a:xfrm>
          <a:prstGeom prst="rect">
            <a:avLst/>
          </a:prstGeom>
          <a:solidFill>
            <a:srgbClr val="065A82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6672" y="17830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/ frame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1783080"/>
            <a:ext cx="1508760" cy="457200"/>
          </a:xfrm>
          <a:prstGeom prst="rect">
            <a:avLst/>
          </a:prstGeom>
          <a:solidFill>
            <a:srgbClr val="065A82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39712" y="178308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Relative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2402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2402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OMP + 1× MP-BP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11880" y="22402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85032" y="22402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 P · N² 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0" y="22402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22402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14.0 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66560" y="224028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39712" y="224028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0.75 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2697480"/>
            <a:ext cx="301752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26974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joint  (proposed)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11880" y="2697480"/>
            <a:ext cx="169164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85032" y="26974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 P · N² 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303520" y="2697480"/>
            <a:ext cx="146304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76672" y="26974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18.6 M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66560" y="2697480"/>
            <a:ext cx="150876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39712" y="269748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1.00 ×  baseline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" y="3154680"/>
            <a:ext cx="3017520" cy="457200"/>
          </a:xfrm>
          <a:prstGeom prst="rect">
            <a:avLst/>
          </a:prstGeom>
          <a:solidFill>
            <a:srgbClr val="EBF3FA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" y="31546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Learned-head joint  (proposed)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11880" y="3154680"/>
            <a:ext cx="1691640" cy="457200"/>
          </a:xfrm>
          <a:prstGeom prst="rect">
            <a:avLst/>
          </a:prstGeom>
          <a:solidFill>
            <a:srgbClr val="EBF3FA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85032" y="31546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 P · N² 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03520" y="3154680"/>
            <a:ext cx="1463040" cy="457200"/>
          </a:xfrm>
          <a:prstGeom prst="rect">
            <a:avLst/>
          </a:prstGeom>
          <a:solidFill>
            <a:srgbClr val="EBF3FA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6672" y="31546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20.1 M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766560" y="3154680"/>
            <a:ext cx="1508760" cy="457200"/>
          </a:xfrm>
          <a:prstGeom prst="rect">
            <a:avLst/>
          </a:prstGeom>
          <a:solidFill>
            <a:srgbClr val="EBF3FA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39712" y="315468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95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1.08 ×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94360" y="3611880"/>
            <a:ext cx="301752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" y="36118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Re-OMP-per-iter  (rejected)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611880" y="3611880"/>
            <a:ext cx="169164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85032" y="36118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 P · N² ) · 5×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03520" y="3611880"/>
            <a:ext cx="146304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76672" y="36118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48.6 M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766560" y="3611880"/>
            <a:ext cx="1508760" cy="457200"/>
          </a:xfrm>
          <a:prstGeom prst="rect">
            <a:avLst/>
          </a:prstGeom>
          <a:solidFill>
            <a:srgbClr val="F4F8FB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9712" y="361188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2.61 ×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4360" y="406908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" y="4069080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LMMSE channel est.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11880" y="4069080"/>
            <a:ext cx="16916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85032" y="4069080"/>
            <a:ext cx="1545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 N³ 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303520" y="4069080"/>
            <a:ext cx="146304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76672" y="4069080"/>
            <a:ext cx="1316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2.7 G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766560" y="4069080"/>
            <a:ext cx="1508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9DBE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39712" y="4069080"/>
            <a:ext cx="1362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145 ×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594360" y="47091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Both proposed receivers stay in the sparse 𝒪(P · N²) class — two orders of magnitude cheaper than any dense alternative.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594360" y="5285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MAC (log-ish, classical = 1×)</a:t>
            </a:r>
            <a:endParaRPr lang="en-US" sz="950" dirty="0"/>
          </a:p>
        </p:txBody>
      </p:sp>
      <p:graphicFrame>
        <p:nvGraphicFramePr>
          <p:cNvPr id="61" name="Chart 0" descr=""/>
          <p:cNvGraphicFramePr/>
          <p:nvPr/>
        </p:nvGraphicFramePr>
        <p:xfrm>
          <a:off x="594360" y="5486400"/>
          <a:ext cx="768096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2" name="Shape 59"/>
          <p:cNvSpPr/>
          <p:nvPr/>
        </p:nvSpPr>
        <p:spPr>
          <a:xfrm>
            <a:off x="8595360" y="118872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63" name="Shape 60"/>
          <p:cNvSpPr/>
          <p:nvPr/>
        </p:nvSpPr>
        <p:spPr>
          <a:xfrm>
            <a:off x="8595360" y="1188720"/>
            <a:ext cx="164592" cy="51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869680" y="1353312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1350" dirty="0"/>
          </a:p>
        </p:txBody>
      </p:sp>
      <p:sp>
        <p:nvSpPr>
          <p:cNvPr id="65" name="Shape 62"/>
          <p:cNvSpPr/>
          <p:nvPr/>
        </p:nvSpPr>
        <p:spPr>
          <a:xfrm>
            <a:off x="8869680" y="1828800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869680" y="1828800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+ 8 %</a:t>
            </a:r>
            <a:endParaRPr lang="en-US" sz="2200" dirty="0"/>
          </a:p>
        </p:txBody>
      </p:sp>
      <p:sp>
        <p:nvSpPr>
          <p:cNvPr id="67" name="Text 64"/>
          <p:cNvSpPr/>
          <p:nvPr/>
        </p:nvSpPr>
        <p:spPr>
          <a:xfrm>
            <a:off x="9875520" y="187452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overhead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vs classical</a:t>
            </a:r>
            <a:endParaRPr lang="en-US" sz="1050" dirty="0"/>
          </a:p>
        </p:txBody>
      </p:sp>
      <p:sp>
        <p:nvSpPr>
          <p:cNvPr id="68" name="Shape 65"/>
          <p:cNvSpPr/>
          <p:nvPr/>
        </p:nvSpPr>
        <p:spPr>
          <a:xfrm>
            <a:off x="8869680" y="2907792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8869680" y="2907792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1 041</a:t>
            </a:r>
            <a:endParaRPr lang="en-US" sz="2200" dirty="0"/>
          </a:p>
        </p:txBody>
      </p:sp>
      <p:sp>
        <p:nvSpPr>
          <p:cNvPr id="70" name="Text 67"/>
          <p:cNvSpPr/>
          <p:nvPr/>
        </p:nvSpPr>
        <p:spPr>
          <a:xfrm>
            <a:off x="9875520" y="2953512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parameters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(384 + 657)</a:t>
            </a:r>
            <a:endParaRPr lang="en-US" sz="1050" dirty="0"/>
          </a:p>
        </p:txBody>
      </p:sp>
      <p:sp>
        <p:nvSpPr>
          <p:cNvPr id="71" name="Shape 68"/>
          <p:cNvSpPr/>
          <p:nvPr/>
        </p:nvSpPr>
        <p:spPr>
          <a:xfrm>
            <a:off x="8869680" y="3986784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8869680" y="3986784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145</a:t>
            </a:r>
            <a:endParaRPr lang="en-US" sz="2200" dirty="0"/>
          </a:p>
        </p:txBody>
      </p:sp>
      <p:sp>
        <p:nvSpPr>
          <p:cNvPr id="73" name="Text 70"/>
          <p:cNvSpPr/>
          <p:nvPr/>
        </p:nvSpPr>
        <p:spPr>
          <a:xfrm>
            <a:off x="9875520" y="4032504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LMMSE / MMSE</a:t>
            </a:r>
            <a:endParaRPr lang="en-US" sz="1050" dirty="0"/>
          </a:p>
        </p:txBody>
      </p:sp>
      <p:sp>
        <p:nvSpPr>
          <p:cNvPr id="74" name="Shape 71"/>
          <p:cNvSpPr/>
          <p:nvPr/>
        </p:nvSpPr>
        <p:spPr>
          <a:xfrm>
            <a:off x="8869680" y="5065776"/>
            <a:ext cx="278892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  <a:ln w="9525">
            <a:solidFill>
              <a:srgbClr val="C9DBE7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8869680" y="5065776"/>
            <a:ext cx="1005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÷ 2.6</a:t>
            </a:r>
            <a:endParaRPr lang="en-US" sz="2200" dirty="0"/>
          </a:p>
        </p:txBody>
      </p:sp>
      <p:sp>
        <p:nvSpPr>
          <p:cNvPr id="76" name="Text 73"/>
          <p:cNvSpPr/>
          <p:nvPr/>
        </p:nvSpPr>
        <p:spPr>
          <a:xfrm>
            <a:off x="9875520" y="5111496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re-OMP-per-iter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0" y="25603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 &amp; Future 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88720" y="7132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shown — and what naturally comes 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AFDM Transceiver for UWA  •  Yikun Guo  •  2025–2026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685800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188720"/>
            <a:ext cx="164592" cy="5120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128016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contributions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1847088"/>
            <a:ext cx="548640" cy="5486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470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18288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low-complexity classical joint receiver.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508760" y="221284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OMP-once + iterative damped DA-LS / sparse MP-BP.  Recovers 2–3 orders of magnitude of BER over the one-shot baseline at SNR = 25 dB while staying in 𝒪(P · N²).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68680" y="3310128"/>
            <a:ext cx="548640" cy="5486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33101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508760" y="3291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1 041-parameter deep-unfolded support-refinement head.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508760" y="367588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= 4 ranking, deployed once at  t = 0.  Adds a consistent ≈ 2 dB paired separation at SNR ∈ {20, 25, 30} dB ( McNemar  p &lt; 10⁻⁶ ).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773168"/>
            <a:ext cx="548640" cy="5486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773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508760" y="47548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mechanism-grounded explanation.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508760" y="5138928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OMP pass already captures ~95 % of the Dirichlet-expanded oracle support; the head closes 61 / 81 / 98 % of the baseline-to-oracle gap at SNR = 15 / 20 / 25 dB.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0" y="1188720"/>
            <a:ext cx="4251960" cy="512064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9525">
            <a:solidFill>
              <a:srgbClr val="C9DBE7"/>
            </a:solidFill>
            <a:prstDash val="solid"/>
          </a:ln>
          <a:effectLst>
            <a:outerShdw sx="100000" sy="100000" kx="0" ky="0" algn="bl" rotWithShape="0" blurRad="101600" dist="12700" dir="540000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98080" y="1188720"/>
            <a:ext cx="164592" cy="5120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12801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772400" y="1947672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Multi-scale multi-lag UWA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955280" y="21488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Per-path independent time-scaling beyond the first-order MSML approximation.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3026664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28620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Differentiable top-K loss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955280" y="322783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training and inference rather than relying on a bias-shift patch.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772400" y="4105656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55280" y="394106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Embedded-deployment metrics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955280" y="43068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Latency, memory, and energy on real DSP / NPU targets — out of scope here.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772400" y="5184648"/>
            <a:ext cx="109728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502005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Field-data validation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7955280" y="538581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to recorded UWA links beyond the simulator family.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126480"/>
            <a:ext cx="12191695" cy="45720"/>
          </a:xfrm>
          <a:prstGeom prst="rect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914400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691" y="1063993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5623" y="1197119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85554" y="1299121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25486" y="1358770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65417" y="1369501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05349" y="1330131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45280" y="1244995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85211" y="1123465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25143" y="978920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5074" y="827272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5006" y="685216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44937" y="568390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84869" y="489655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24800" y="457678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64731" y="475980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4663" y="542546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544594" y="650048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84526" y="786651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24457" y="937318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164389" y="1085462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704320" y="1214774"/>
            <a:ext cx="91440" cy="91440"/>
          </a:xfrm>
          <a:prstGeom prst="ellipse">
            <a:avLst/>
          </a:prstGeom>
          <a:solidFill>
            <a:srgbClr val="C58B2A"/>
          </a:solidFill>
          <a:ln w="12700">
            <a:solidFill>
              <a:srgbClr val="C58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10312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26" name="Text 24"/>
          <p:cNvSpPr/>
          <p:nvPr/>
        </p:nvSpPr>
        <p:spPr>
          <a:xfrm>
            <a:off x="457200" y="32461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C58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438912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C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Yikun Guo  •  GUID 2840210g  •  18736049201eric@gmail.com
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FB3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Glasgow College, UESTC — Final Year Project Defense, 2025–2026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AFDM Transceiver Design for UWA</dc:title>
  <dc:subject>PptxGenJS Presentation</dc:subject>
  <dc:creator>Yikun Guo</dc:creator>
  <cp:lastModifiedBy>Yikun Guo</cp:lastModifiedBy>
  <cp:revision>1</cp:revision>
  <dcterms:created xsi:type="dcterms:W3CDTF">2026-04-29T09:00:21Z</dcterms:created>
  <dcterms:modified xsi:type="dcterms:W3CDTF">2026-04-29T09:00:21Z</dcterms:modified>
</cp:coreProperties>
</file>